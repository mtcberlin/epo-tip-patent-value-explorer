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9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herrkrueger/" TargetMode="External"/><Relationship Id="rId5" Type="http://schemas.openxmlformats.org/officeDocument/2006/relationships/hyperlink" Target="mailto:arne.krueger@mtc.berlin" TargetMode="External"/><Relationship Id="rId4" Type="http://schemas.openxmlformats.org/officeDocument/2006/relationships/hyperlink" Target="https://mtc.berl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tcberlin/epo-tip-patent-value-explore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453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QUALITY EVALUATION</a:t>
            </a:r>
            <a:endParaRPr lang="en-US" sz="1200" dirty="0">
              <a:solidFill>
                <a:srgbClr val="08245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79" y="3703320"/>
            <a:ext cx="106787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patents against the OECD Patent Quality framework, normalized to technology-field and filing-year cohorts.</a:t>
            </a:r>
            <a:endParaRPr lang="en-US" sz="1800" dirty="0"/>
          </a:p>
        </p:txBody>
      </p:sp>
      <p:pic>
        <p:nvPicPr>
          <p:cNvPr id="7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355080"/>
            <a:ext cx="320040" cy="32004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C08AB48-9066-626E-460F-43BBCDFDCEB3}"/>
              </a:ext>
            </a:extLst>
          </p:cNvPr>
          <p:cNvSpPr txBox="1"/>
          <p:nvPr/>
        </p:nvSpPr>
        <p:spPr>
          <a:xfrm>
            <a:off x="2742678" y="5597351"/>
            <a:ext cx="6706644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Arne Krüger, Managing 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Director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  <a:hlinkClick r:id="rId4"/>
              </a:rPr>
              <a:t>Moving Targets Consulting GmbH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, Arndtstr. 34, 10965 Berlin</a:t>
            </a:r>
          </a:p>
          <a:p>
            <a:pPr algn="ctr"/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  <a:hlinkClick r:id="rId5"/>
              </a:rPr>
              <a:t>arne.krueger@mtc.berlin 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+49 172 </a:t>
            </a:r>
            <a:r>
              <a:rPr lang="de-DE" sz="130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5119844 LinkedIn 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  <a:hlinkClick r:id="rId6"/>
              </a:rPr>
              <a:t>https://www.linkedin.com/in/herrkrueger/</a:t>
            </a:r>
            <a:endParaRPr lang="de-DE" sz="1300" dirty="0">
              <a:solidFill>
                <a:srgbClr val="334155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#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supportbyheart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20+ 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year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patent &amp; 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accessibility</a:t>
            </a:r>
            <a:r>
              <a:rPr lang="de-DE" sz="13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de-DE" sz="130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expertise</a:t>
            </a:r>
            <a:endParaRPr lang="de-DE" sz="1300" dirty="0">
              <a:solidFill>
                <a:srgbClr val="334155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quality is hard to compare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patent metrics are not comparable across technology fields or filing periods. Ten forward citations in biotechnology mean something different than ten in mechanical engineering. A 2002 patent has had two decades to be cited; a 2022 patent has barely started.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expert assessment is slow and expensive. It does not scale to portfolios of dozens or hundreds of patents.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needed: a fast, reproducible first-pass screen, anchored to a published framework rather than ad-hoc heuristics.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9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Patent Value Explorer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0560" y="1696665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>
              <a:solidFill>
                <a:srgbClr val="082453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70560" y="18745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patent publication number in any common format (EP1234567, US-9,876,543, WO2020/123456, with or without kind codes).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866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>
              <a:solidFill>
                <a:srgbClr val="08245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08660" y="3320629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score (0.0-1.0) for each of 10 OECD indicators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percentile and qualitative interpretation per indicator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Quality Index (mean of 5 OECD components)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grouped into Technological Importance and Market Relevance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or Highly-Cited badge when applicable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narrative summary (Anthropic Claude)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0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9D9C1BB-07A0-42E9-07A0-DDD6A5421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701670"/>
            <a:ext cx="5444490" cy="5271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foundation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OECD Patent Quality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Squicciarini, Dernis &amp; Criscuolo (2013), </a:t>
            </a: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"Measuring Patent Quality: Indicators of Technological and Economic Value"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OECD Science, Technology and Industry Working Papers 2013/03.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4400" dirty="0">
              <a:solidFill>
                <a:srgbClr val="08245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concepts implemented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19600" y="292608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>
              <a:solidFill>
                <a:srgbClr val="08245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419600" y="379476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indicators + Breakthrough flag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9120" y="292608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>
              <a:solidFill>
                <a:srgbClr val="08245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199120" y="3794760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in the composite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OECD concepts are not covered: citations to non-patent literature (NPL), which requires a dataset not available in BigQuery PATSTAT, and the X/I/Y-only variant of Forward Citations, which the authors describe as essentially identical to standard forward citations.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4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measured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OECD indicators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602238"/>
              </p:ext>
            </p:extLst>
          </p:nvPr>
        </p:nvGraphicFramePr>
        <p:xfrm>
          <a:off x="640079" y="1691640"/>
          <a:ext cx="6353574" cy="4328160"/>
        </p:xfrm>
        <a:graphic>
          <a:graphicData uri="http://schemas.openxmlformats.org/drawingml/2006/table">
            <a:tbl>
              <a:tblPr/>
              <a:tblGrid>
                <a:gridCol w="445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 impact, how many later families cite this patent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breadth, how many prior-art references are cited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 breadth, distinct CPC subclasses on the patent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market relevance, jurisdictions in the DOCDB 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Generality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Cross-field applicability, diversity of citing patents' CPC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Originality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Breadth of knowledge sources, diversity of cited patents' CPC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Radicalness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backward citations in CPC subclasses outside the focal patent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 speed, days from filing to grant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Claims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of legal protection, number of patent claims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commercial value, maximum renewal fee year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Breakthrough Invention flag, awarded when the forward-citation percentile reaches the top 1% of the cohort.</a:t>
            </a:r>
            <a:endParaRPr lang="en-US" sz="1200" dirty="0"/>
          </a:p>
        </p:txBody>
      </p:sp>
      <p:sp>
        <p:nvSpPr>
          <p:cNvPr id="4" name="Shape 3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8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measured</a:t>
            </a:r>
            <a:endParaRPr lang="en-US" sz="9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F8087A2-CE22-9A6C-5284-03955158E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250" y="835919"/>
            <a:ext cx="3573190" cy="5183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scores become comparable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normalization is the core mechanism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is normalized against the patent's primary WIPO technology field and filing-year cohort. That is what makes scores comparable across fields and across decades.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>
              <a:solidFill>
                <a:srgbClr val="08245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lookup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583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pre-computed percentile distribution (p1, p5, p25, p50, p75, p95, p99) for the (field, year, indicator) triple.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614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>
              <a:solidFill>
                <a:srgbClr val="08245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06140" y="342900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6140" y="3794760"/>
            <a:ext cx="2583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the raw value to the p1 to p99 range to suppress outliers.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>
              <a:solidFill>
                <a:srgbClr val="08245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342900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3794760"/>
            <a:ext cx="2583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winsorized value to the 0.0 to 1.0 range using the cohort's p1 and p99.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382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>
              <a:solidFill>
                <a:srgbClr val="08245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38260" y="342900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interpolation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38260" y="3794760"/>
            <a:ext cx="2583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patent's exact percentile inside the cohort by linear interpolation between stored breakpoints.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16,348 cohorts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35 WIPO technology fields, 47 filing years (1978 to 2024), 10 indicators. Sparse cohorts are omitted; the dataset ships as static JSON.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21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scores become comparable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composite is built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Quality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mean of five OECD composite components: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=  mean( Forward Citations,  Family Size,  Number of Claims,  Originality,  Radicalness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>
              <a:solidFill>
                <a:srgbClr val="08245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components can be computed at request time without prohibitive cost.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 is excluded from the standard composite. It requires a ~16 GB per-patent BigQuery scan, so it is offered on-demand via a button in the UI.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Citations, Patent Scope, Grant Lag, and Renewal Duration are shown as standalone indicators. Per the OECD framework, they are not part of the composite.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component is missing (e.g. patent not yet granted), the composite uses the remaining components and the count is shown, for example "based on 4 of 5 components."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1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PVE-specific additions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on top of the OECD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OECD-defined carries an OECD badge in the UI. Everything added by PVE carries a PVE badge, so the boundary between framework and interpretation stays visible.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Citation-rank title badges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2926080"/>
            <a:ext cx="5235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gets "Breakthrough" (amber). Top 10% gets "Highly Cited" (blue). Below the threshold, no badge; the percentile stays on the Forward Citations card.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Archetype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3611880"/>
            <a:ext cx="5235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Specialist, Generalist, Disruptor, or Incremental. Derived from the indicator profile. Used as a deterministic fallback when the AI narrative is unavailable.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Activity Index (FAI)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4297680"/>
            <a:ext cx="5235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activity classification (HIGH, MEDIUM, LOW), CAGR, and a composite Z(activity) + Z(CAGR). Adapted from the WIPO Patent Momentum Indicator.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dimension grouping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4983480"/>
            <a:ext cx="5235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are visually grouped into Technological Importance and Market Relevance on the radar chart, mirroring the OECD paper's framing.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5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PVE-specific additions</a:t>
            </a:r>
            <a:endParaRPr lang="en-US" sz="9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2614EA8-6EE4-F96E-0720-88A207791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389" y="2401857"/>
            <a:ext cx="2671931" cy="36957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becomes a profile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993392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number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normalized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62072" y="2011680"/>
            <a:ext cx="1993392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999232" y="21488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lookup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99232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JSON, then in-memory cache, then fresh PATSTAT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84064" y="2011680"/>
            <a:ext cx="1993392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221224" y="21488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parallel queries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1224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Promise.allSettled, isolated failures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06056" y="2011680"/>
            <a:ext cx="1993392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443216" y="21488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normalization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43216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JSON, no runtime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28048" y="2011680"/>
            <a:ext cx="1993392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665208" y="21488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+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65208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cards, optional narrative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308166"/>
              </p:ext>
            </p:extLst>
          </p:nvPr>
        </p:nvGraphicFramePr>
        <p:xfrm>
          <a:off x="640080" y="3657600"/>
          <a:ext cx="10881360" cy="23042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patents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JSON shipped with the app (14 curated patents)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Patent-result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Map (Node process)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JSON, 16,348 cohorts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PATSTAT MCP server to BigQuery (9 parallel queries)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to 25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Runs inside EPO TIP via a one-click </a:t>
                      </a: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Jupyter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 notebook launcher, or as any standard Node 20+ app.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947550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22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000" dirty="0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code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>
              <a:solidFill>
                <a:srgbClr val="082453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66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 2 with adapter-node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 5 (Runes) for fine-grained reactivity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5.9, strict mode across the codebase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and bits-ui (shadcn-svelte)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LayerChart 2 (D3-based) for the radar visualization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Valibot for runtime schema validation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access via MCP server to BigQuery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for the optional AI narrative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>
              <a:solidFill>
                <a:srgbClr val="08245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355080" y="2194560"/>
            <a:ext cx="5166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unit tests (vitest) covering indicators, normalization, composite, formatting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JSDoc on scoring functions references the OECD section they implement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any in scoring logic; shared types in src/lib/scoring/types.ts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Valibot validates route parameters and MCP responses at the boundary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and Prettier configured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 via committed package-lock.json (npm ci)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indicator failures are isolated; AI narrative is non-fatal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0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</a:t>
            </a:r>
            <a:r>
              <a:rPr lang="en-US" sz="1000" b="1" kern="0" spc="4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r>
              <a:rPr lang="en-US" sz="1000" b="1" kern="0" spc="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21031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Arrow-key cycling through radar axes. Enter to search, Escape to clear.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support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roles (role="search", role="application", role="meter"), ARIA labels on interactive elements, and text alternatives where applicable.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Bar-chart alternative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566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bar chart with role="meter" and aria-valuenow / aria-valuemin / aria-valuemax on each bar. Used on small viewports and exposed to assistive technology.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4297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EPO-dimension colour pairs (blue and teal) meet at least 3:1 against both light and dark backgrounds.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safety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5029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motion-safe: prefix and @media (prefers-reduced-motion: reduce) suppress animations system-wide.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900" dirty="0"/>
          </a:p>
        </p:txBody>
      </p:sp>
      <p:pic>
        <p:nvPicPr>
          <p:cNvPr id="16" name="Image 0" descr="/sessions/blissful-awesome-bell/mnt/outputs/pve-deck/v3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640080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97680" y="6419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453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0824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endParaRPr lang="en-US" sz="1200" dirty="0">
              <a:solidFill>
                <a:srgbClr val="08245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Value Explorer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792653"/>
              </p:ext>
            </p:extLst>
          </p:nvPr>
        </p:nvGraphicFramePr>
        <p:xfrm>
          <a:off x="640080" y="2103120"/>
          <a:ext cx="10881360" cy="16459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Arne Krüger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arne.krueger@mtc.berlin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Matze Schmidbauer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matze.schmidbauer@mtc.berlin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Lichtenstein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tom.lichtenstein@mtc.berlin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>
              <a:solidFill>
                <a:srgbClr val="082453"/>
              </a:solidFill>
            </a:endParaRPr>
          </a:p>
        </p:txBody>
      </p:sp>
      <p:sp>
        <p:nvSpPr>
          <p:cNvPr id="7" name="Text 4">
            <a:hlinkClick r:id="rId3"/>
          </p:cNvPr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github.com/mtcberlin/epo-tip-patent-value-explorer</a:t>
            </a:r>
            <a:endParaRPr lang="en-US" sz="1600" dirty="0">
              <a:solidFill>
                <a:srgbClr val="082453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2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>
              <a:solidFill>
                <a:srgbClr val="082453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Targets Consulting, mtc.berlin</a:t>
            </a:r>
            <a:endParaRPr lang="en-US" sz="1400" dirty="0"/>
          </a:p>
        </p:txBody>
      </p:sp>
      <p:pic>
        <p:nvPicPr>
          <p:cNvPr id="10" name="Image 0" descr="/sessions/blissful-awesome-bell/mnt/outputs/pve-deck/v3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63550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Macintosh PowerPoint</Application>
  <PresentationFormat>Breitbild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Moving Targets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 Value Explorer</dc:title>
  <dc:subject>PptxGenJS Presentation</dc:subject>
  <dc:creator>mtc.berlin</dc:creator>
  <cp:lastModifiedBy>Matze Schmidbauer</cp:lastModifiedBy>
  <cp:revision>7</cp:revision>
  <cp:lastPrinted>2026-04-17T09:27:50Z</cp:lastPrinted>
  <dcterms:created xsi:type="dcterms:W3CDTF">2026-04-17T08:35:17Z</dcterms:created>
  <dcterms:modified xsi:type="dcterms:W3CDTF">2026-04-17T12:48:06Z</dcterms:modified>
</cp:coreProperties>
</file>